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07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6095848" cy="18288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8" y="5029200"/>
            <a:ext cx="6095848" cy="1828800"/>
          </a:xfrm>
          <a:prstGeom prst="rect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</a:rPr>
              <a:t>AUTOSALES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Two AI Surfaces,</a:t>
            </a:r>
          </a:p>
          <a:p>
            <a:pPr algn="l"/>
            <a:r>
              <a:rPr sz="6000" b="1" i="0">
                <a:solidFill>
                  <a:srgbClr val="2196F3"/>
                </a:solidFill>
              </a:rPr>
              <a:t>One Dealership.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1">
                <a:solidFill>
                  <a:srgbClr val="E5E7EB"/>
                </a:solidFill>
              </a:rPr>
              <a:t>How AUTOSALES moved from green-screen transactions to a system that thinks alongside the dealer.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5303520" cy="50292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ASSISTANT  ·  /api/chat  ·  4 free-tier LLMs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577840"/>
            <a:ext cx="530352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AGENT  ·  /api/agent  ·  Claude Sonnet 4.6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1">
                <a:solidFill>
                  <a:srgbClr val="E5E7EB"/>
                </a:solidFill>
              </a:rPr>
              <a:t>Shipped 2026-04-14  ·  OpenClaw skills architecture  ·  Level 4 agentic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Evolution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6095848" cy="7315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8" y="822960"/>
            <a:ext cx="60958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Modernization isn't just replacing screens — it's giving the dealer a system that reasons.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788920" cy="3931920"/>
          </a:xfrm>
          <a:prstGeom prst="round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788920" cy="100584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27889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IMS DC
(1990s)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24231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Green screen, PF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2423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</a:rPr>
              <a:t>Clerk knows every screen &amp; txn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242316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System executes the exact txn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554480"/>
            <a:ext cx="2788920" cy="39319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5848" y="1554480"/>
            <a:ext cx="2788920" cy="100584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645920"/>
            <a:ext cx="27889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React UI
(2026)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74320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971800"/>
            <a:ext cx="24231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B4F72"/>
                </a:solidFill>
              </a:rPr>
              <a:t>Forms, pages,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61188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840480"/>
            <a:ext cx="2423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B4F72"/>
                </a:solidFill>
              </a:rPr>
              <a:t>Clerk clicks through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48056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709160"/>
            <a:ext cx="242316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B4F72"/>
                </a:solidFill>
              </a:rPr>
              <a:t>System shows data, validates input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1554480"/>
            <a:ext cx="2788920" cy="393192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4496" y="1554480"/>
            <a:ext cx="2788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645920"/>
            <a:ext cx="27889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AI Assistant
(2026)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274320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INTERACTION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2971800"/>
            <a:ext cx="24231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Chat 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361188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HUMAN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840480"/>
            <a:ext cx="2423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Asks ONE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48056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709160"/>
            <a:ext cx="242316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Fetches ONE answer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53144" y="1554480"/>
            <a:ext cx="2788920" cy="3931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53144" y="1554480"/>
            <a:ext cx="2788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53144" y="1645920"/>
            <a:ext cx="27889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AI Agent
(2026)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274320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INTERACTION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2971800"/>
            <a:ext cx="24231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Chat 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024" y="361188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HUMAN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3840480"/>
            <a:ext cx="242316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States a GOAL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024" y="4480560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</a:rPr>
              <a:t>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4709160"/>
            <a:ext cx="242316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Plans, chains tools, reasons, recommends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715000"/>
            <a:ext cx="11277295" cy="64008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715000"/>
            <a:ext cx="11277295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The Agent is the first time the software does the thinking the clerk used to 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AUTOSALES · Dual-AI Pitch · 2026-04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77295" y="6537960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Meet the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6095848" cy="7315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8" y="822960"/>
            <a:ext cx="60958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Fast, cheap, single-step. Google for your dealership.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54480"/>
            <a:ext cx="7589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1554480"/>
            <a:ext cx="7589520" cy="100584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2057400"/>
            <a:ext cx="7589520" cy="50292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664208"/>
            <a:ext cx="70408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21408"/>
            <a:ext cx="70408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"Google for your dealership."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743200"/>
            <a:ext cx="1920240" cy="32004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D47A1"/>
                </a:solidFill>
              </a:rPr>
              <a:t>POST /api/chat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2926080" cy="32004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D47A1"/>
                </a:solidFill>
              </a:rPr>
              <a:t>Groq · Gemini · Together · Mistral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743200"/>
            <a:ext cx="1097280" cy="32004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~1–2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46120"/>
            <a:ext cx="7040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Single LLM call, user picks the provider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Free-tier economics — zero marginal cost per question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Use when you know what you want, just need it faster than clicking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Blue pill in header with provider dropdown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937760"/>
            <a:ext cx="7040880" cy="64008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501091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D47A1"/>
                </a:solidFill>
              </a:rPr>
              <a:t>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5212080"/>
            <a:ext cx="67665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</a:rPr>
              <a:t>What's customer 42's phone number?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5715000"/>
            <a:ext cx="7040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5788152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D47A1"/>
                </a:solidFill>
              </a:rPr>
              <a:t>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989320"/>
            <a:ext cx="67665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Customer 42 — John Doe — (555) 123-4567. Last contact 2026-04-10.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AUTOSALES · Dual-AI Pitch · 2026-04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537960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Meet the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6095848" cy="7315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8" y="822960"/>
            <a:ext cx="60958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Deliberate, multi-step, skills-based. A junior analyst on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54480"/>
            <a:ext cx="7589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1554480"/>
            <a:ext cx="7589520" cy="10058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2057400"/>
            <a:ext cx="7589520" cy="502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664208"/>
            <a:ext cx="70408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21408"/>
            <a:ext cx="70408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"A junior analyst on staff."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743200"/>
            <a:ext cx="1920240" cy="320040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4C1D95"/>
                </a:solidFill>
              </a:rPr>
              <a:t>POST /api/agent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2926080" cy="320040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4C1D95"/>
                </a:solidFill>
              </a:rPr>
              <a:t>Claude Sonnet 4.6  via  OpenClaw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743200"/>
            <a:ext cx="1097280" cy="3200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20–40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46120"/>
            <a:ext cx="7040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C3AED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Plans before acting — states the steps, then executes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C3AED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Chains 4–8 tool calls autonomously, no turn-by-turn prompting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C3AED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Applies domain rules (aging, APR bands, approval gates, SSN redaction)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C3AED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Surfaces non-obvious insights — referrals, stalled deals, risks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937760"/>
            <a:ext cx="7040880" cy="640080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5010912"/>
            <a:ext cx="54864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4C1D95"/>
                </a:solidFill>
              </a:rPr>
              <a:t>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5212080"/>
            <a:ext cx="67665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1">
                <a:solidFill>
                  <a:srgbClr val="2B2B2B"/>
                </a:solidFill>
              </a:rPr>
              <a:t>Is deal 17 healthy?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5715000"/>
            <a:ext cx="7040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5788152"/>
            <a:ext cx="82296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4C1D95"/>
                </a:solidFill>
              </a:rPr>
              <a:t>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989320"/>
            <a:ext cx="67665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Stalled at UW for 9 days · credit check stale (28d) · FIN-APP missing APR band · 3 recommended actions.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AUTOSALES · Dual-AI Pitch · 2026-04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537960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Four Differentiation Axes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6095848" cy="7315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8" y="822960"/>
            <a:ext cx="60958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Why the Agent is a new product category, not just a fancier chatbot.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02920" cy="23774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02920" cy="23774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46634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AI  Cognitive 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331720"/>
            <a:ext cx="4663440" cy="658368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25880" y="2450592"/>
            <a:ext cx="1005840" cy="27432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59" y="2423160"/>
            <a:ext cx="3383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Assistant answers YOUR 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090672"/>
            <a:ext cx="4663440" cy="713232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25880" y="3227832"/>
            <a:ext cx="1005840" cy="2743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59" y="3182112"/>
            <a:ext cx="338328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</a:rPr>
              <a:t>Agent decides WHICH questions matter.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55448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02920" cy="23774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554480"/>
            <a:ext cx="502920" cy="23774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691640"/>
            <a:ext cx="46634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&gt;&gt;  Tool-Call Depth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331720"/>
            <a:ext cx="4663440" cy="658368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0" y="2450592"/>
            <a:ext cx="1005840" cy="27432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2423160"/>
            <a:ext cx="3383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1 API call.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3090672"/>
            <a:ext cx="4663440" cy="713232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0" y="3227832"/>
            <a:ext cx="1005840" cy="2743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182112"/>
            <a:ext cx="338328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</a:rPr>
              <a:t>4-8 chained calls with domain rules between steps.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148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502920" cy="23774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502920" cy="23774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251960"/>
            <a:ext cx="46634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$  Cost &amp; Latency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4892040"/>
            <a:ext cx="4663440" cy="658368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25880" y="5010912"/>
            <a:ext cx="1005840" cy="27432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59" y="4983480"/>
            <a:ext cx="3383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Free - ~2 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" y="5650992"/>
            <a:ext cx="4663440" cy="713232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5880" y="5788152"/>
            <a:ext cx="1005840" cy="2743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59" y="5742432"/>
            <a:ext cx="338328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</a:rPr>
              <a:t>~$0.05 - 20-40 s - value gap justifies trade.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41148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72200" y="4114800"/>
            <a:ext cx="502920" cy="23774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114800"/>
            <a:ext cx="502920" cy="23774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251960"/>
            <a:ext cx="46634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/\  Architecture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12280" y="4892040"/>
            <a:ext cx="4663440" cy="658368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0" y="5010912"/>
            <a:ext cx="1005840" cy="27432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ASSISTANT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9" y="4983480"/>
            <a:ext cx="3383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Single LLM call, one prompt.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12280" y="5650992"/>
            <a:ext cx="4663440" cy="713232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949440" y="5788152"/>
            <a:ext cx="1005840" cy="2743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19" y="5742432"/>
            <a:ext cx="338328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</a:rPr>
              <a:t>Skills-based: SKILL.md + 28 tools + 5 recipes + OpenClaw.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AUTOSALES · Dual-AI Pitch · 2026-04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295" y="6537960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Same Question, Two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6095848" cy="7315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8" y="822960"/>
            <a:ext cx="60958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Prompt both surfaces with: "Give me a morning briefing."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11277295" cy="64008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77295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PROMPT:  "Give me a morning briefing."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5577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5577840" cy="68580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577840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51206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ASSISTANT  -  ~2 s  -  1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</a:rPr>
              <a:t>"Here are today's deals:"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• Deal #14 — Johnson — WS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• Deal #15 — Garcia — CA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• Deal #16 — Patel — UW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• Deal #17 — Johnson — UW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• Deal #18 — Chen — DL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• Deal #19 — O'Neil — WS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96F3"/>
                </a:solidFill>
              </a:rPr>
              <a:t>● </a:t>
            </a:r>
            <a:r>
              <a:rPr sz="1200" b="0" i="0">
                <a:solidFill>
                  <a:srgbClr val="2B2B2B"/>
                </a:solidFill>
              </a:rPr>
              <a:t>… 11 more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5577840" cy="4572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5577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D47A1"/>
                </a:solidFill>
              </a:rPr>
              <a:t>Raw data. Reader must interpret.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68880"/>
            <a:ext cx="5577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2468880"/>
            <a:ext cx="5577840" cy="6858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834640"/>
            <a:ext cx="557784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51206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AGENT  -  ~30 s  -  6 chained calls +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5029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</a:rPr>
              <a:t>"Good morning. 3 things need you today:"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794760"/>
            <a:ext cx="5029200" cy="685800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3794760"/>
            <a:ext cx="502920" cy="6858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94760"/>
            <a:ext cx="50292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840480"/>
            <a:ext cx="44348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Deal #17 stalled at UW for 9 days. Credit check stale; customer Johnson last contacted Tuesday.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4572000"/>
            <a:ext cx="5029200" cy="685800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4572000"/>
            <a:ext cx="502920" cy="6858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572000"/>
            <a:ext cx="50292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617720"/>
            <a:ext cx="44348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VIN 1HG... on lot 72 days - 12 days over floor-plan exposure. Suggest transfer to DLR02.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5349240"/>
            <a:ext cx="5029200" cy="685800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46520" y="5349240"/>
            <a:ext cx="502920" cy="6858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349240"/>
            <a:ext cx="50292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394960"/>
            <a:ext cx="44348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Warranty claim #44 crosses 14-day escalation threshold tomorrow - act today.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5943600"/>
            <a:ext cx="5577840" cy="457200"/>
          </a:xfrm>
          <a:prstGeom prst="roundRect">
            <a:avLst/>
          </a:prstGeom>
          <a:solidFill>
            <a:srgbClr val="E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5943600"/>
            <a:ext cx="5577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4C1D95"/>
                </a:solidFill>
              </a:rPr>
              <a:t>Prioritized decisions. Human acts, not interprets.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AUTOSALES · Dual-AI Pitch · 2026-04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537960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Five Workflow Recipes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6095848" cy="7315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8" y="822960"/>
            <a:ext cx="60958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Shipped in openclaw/skills/autosales-api/SKILL.full.md — each encodes a dealer's domain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28600" cy="9144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691640"/>
            <a:ext cx="64008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HC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27632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810512"/>
            <a:ext cx="36576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Deal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28800"/>
            <a:ext cx="47548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</a:rPr>
              <a:t>State machine + SLA aging + missing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05695" y="1828800"/>
            <a:ext cx="146304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SKILL.full.md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78608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578608"/>
            <a:ext cx="228600" cy="91440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2715768"/>
            <a:ext cx="640080" cy="64008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715768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C360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651760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834640"/>
            <a:ext cx="36576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Customer 360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852928"/>
            <a:ext cx="47548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</a:rPr>
              <a:t>Referral graph + stale-data flags + loyalty signals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5695" y="2852928"/>
            <a:ext cx="1463040" cy="36576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SKILL.full.md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02736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602736"/>
            <a:ext cx="228600" cy="9144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3739896"/>
            <a:ext cx="640080" cy="6400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739896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FN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3675888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3858768"/>
            <a:ext cx="36576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Lead-to-Deal Funnel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877056"/>
            <a:ext cx="47548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</a:rPr>
              <a:t>Conversion diagnostics, stalled stages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5695" y="3877056"/>
            <a:ext cx="1463040" cy="3657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SKILL.full.md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626864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" y="4626864"/>
            <a:ext cx="22860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97280" y="4764024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764024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INV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700016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4882896"/>
            <a:ext cx="36576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Inventory Aging Triage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01184"/>
            <a:ext cx="47548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</a:rPr>
              <a:t>60-day rule + floor-plan exposure + transfer hints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05695" y="4901184"/>
            <a:ext cx="146304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SKILL.full.md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650992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5650992"/>
            <a:ext cx="228600" cy="9144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97280" y="5788152"/>
            <a:ext cx="640080" cy="6400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788152"/>
            <a:ext cx="64008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MB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5724144"/>
            <a:ext cx="457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5907024"/>
            <a:ext cx="36576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</a:rPr>
              <a:t>Morning Briefing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5925312"/>
            <a:ext cx="47548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B2B2B"/>
                </a:solidFill>
              </a:rPr>
              <a:t>Composite rollup across all four above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05695" y="5925312"/>
            <a:ext cx="146304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SKILL.full.md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AUTOSALES · Dual-AI Pitch · 2026-04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295" y="6537960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Under the 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6095848" cy="7315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8" y="822960"/>
            <a:ext cx="60958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React → Spring Boot → OpenClaw gateway → Claude Sonnet 4.6, with skill-based progressive disclosure.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8" y="1828800"/>
            <a:ext cx="2468880" cy="128016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868" y="1965960"/>
            <a:ext cx="24688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React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8" y="2377440"/>
            <a:ext cx="246888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AgentWidget
(violet pill)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1228" y="1828800"/>
            <a:ext cx="2468880" cy="128016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1228" y="1965960"/>
            <a:ext cx="24688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1228" y="2377440"/>
            <a:ext cx="246888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AgentController
AgentService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1588" y="1828800"/>
            <a:ext cx="2468880" cy="12801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8" y="1965960"/>
            <a:ext cx="24688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OpenClaw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8" y="2377440"/>
            <a:ext cx="246888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:18789
router + plugin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1948" y="1828800"/>
            <a:ext cx="2468880" cy="12801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1948" y="1965960"/>
            <a:ext cx="24688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Claude Sonnet 4.6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1948" y="2377440"/>
            <a:ext cx="246888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Anthropic plugin
LLM reasoning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09748" y="2468880"/>
            <a:ext cx="411480" cy="0"/>
          </a:xfrm>
          <a:prstGeom prst="line">
            <a:avLst/>
          </a:prstGeom>
          <a:ln w="317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09748" y="2084832"/>
            <a:ext cx="411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</a:rPr>
              <a:t>POST /api/agent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90108" y="2468880"/>
            <a:ext cx="411480" cy="0"/>
          </a:xfrm>
          <a:prstGeom prst="line">
            <a:avLst/>
          </a:prstGeom>
          <a:ln w="317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90108" y="2084832"/>
            <a:ext cx="411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</a:rPr>
              <a:t>POST /v1/chat/completions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0468" y="2468880"/>
            <a:ext cx="411480" cy="0"/>
          </a:xfrm>
          <a:prstGeom prst="line">
            <a:avLst/>
          </a:prstGeom>
          <a:ln w="317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70468" y="2084832"/>
            <a:ext cx="411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</a:rPr>
              <a:t>Anthropic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2648" y="3749039"/>
            <a:ext cx="5486400" cy="1737360"/>
          </a:xfrm>
          <a:prstGeom prst="roundRect">
            <a:avLst/>
          </a:prstGeom>
          <a:solidFill>
            <a:srgbClr val="FAFAFD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52648" y="3749039"/>
            <a:ext cx="5486400" cy="4572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2648" y="3749039"/>
            <a:ext cx="5486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Skill Package  -  openclaw/skills/autosales-api/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89808" y="4297679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1248" y="4389119"/>
            <a:ext cx="2514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SKILL.md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1248" y="4709159"/>
            <a:ext cx="251460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Lean trigger (~30 lines).
Loaded always.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1568" y="4297679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3008" y="4389119"/>
            <a:ext cx="2514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SKILL.full.md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8" y="4709159"/>
            <a:ext cx="251460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Payload (~230 lines). 28 tools,
5 recipes, domain rules.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095848" y="3108960"/>
            <a:ext cx="1440180" cy="640079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21628" y="32918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00" b="0" i="1">
                <a:solidFill>
                  <a:srgbClr val="06B6D4"/>
                </a:solidFill>
              </a:rPr>
              <a:t>progressive disclosure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5669280"/>
            <a:ext cx="3200400" cy="7315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5669280"/>
            <a:ext cx="320040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AUTOSALES REST API  -  28 tools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5848" y="5486399"/>
            <a:ext cx="4008272" cy="182881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5852160"/>
            <a:ext cx="7772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Auth:  JWT at /api/agent  -  X-API-Key gateway-&gt;app  -  Anthropic key in .env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AUTOSALES · Dual-AI Pitch · 2026-04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537960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6095848" cy="7315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8" y="822960"/>
            <a:ext cx="609584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Polish, depth, and operational guardrails for the agent surface.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914400" cy="91440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91440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874520"/>
            <a:ext cx="2148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Tool-Call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10896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SSE streaming so the agent's plan shows live as it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828800"/>
            <a:ext cx="914400" cy="9144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91440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MEM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874520"/>
            <a:ext cx="2148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Server-Side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80360"/>
            <a:ext cx="310896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Per-userId history in Postgres. Enables longer multi-turn.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0" y="1828800"/>
            <a:ext cx="914400" cy="9144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828800"/>
            <a:ext cx="91440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1874520"/>
            <a:ext cx="2148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Composite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880360"/>
            <a:ext cx="310896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get_customer_360(id) as one orchestrated call - fewer round-trips.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4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251960"/>
            <a:ext cx="914400" cy="9144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91440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RCP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4297680"/>
            <a:ext cx="2148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More Recipes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310896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Finance deal review - Inventory rebalance - Recall impact report.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97764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63440" y="4251960"/>
            <a:ext cx="914400" cy="9144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251960"/>
            <a:ext cx="91440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4297680"/>
            <a:ext cx="2148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External web_fetch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303520"/>
            <a:ext cx="310896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Pull NHTSA recalls, KBB pricing, VIN-decode enhancements.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97764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03920" y="4251960"/>
            <a:ext cx="914400" cy="9144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251960"/>
            <a:ext cx="91440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$$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297680"/>
            <a:ext cx="21488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Cost Guardrails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303520"/>
            <a:ext cx="310896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</a:rPr>
              <a:t>Monthly cap, per-user quotas, budget alerts.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AUTOSALES · Dual-AI Pitch · 2026-04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537960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