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AUTOSALES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196F3"/>
                </a:solidFill>
              </a:rPr>
              <a:t>Progress Status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BBBB"/>
                </a:solidFill>
              </a:rPr>
              <a:t>IMS DC / COBOL / DB2  →  Spring Boot + React + PostgreSQL
105+ Programs  |  84,500 SLOC  |  Modular Monolith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Presented: March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Waves 0-3 Complete  |  50% of Implementation Done  |  All Tests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JAVA FILES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229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source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459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REST ENDPOINTS</a:t>
            </a:r>
          </a:p>
          <a:p>
            <a:pPr algn="ctr"/>
            <a:r>
              <a:rPr sz="3200" b="1">
                <a:solidFill>
                  <a:srgbClr val="2196F3"/>
                </a:solidFill>
              </a:rPr>
              <a:t>53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API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REACT PAGES</a:t>
            </a:r>
          </a:p>
          <a:p>
            <a:pPr algn="ctr"/>
            <a:r>
              <a:rPr sz="3200" b="1">
                <a:solidFill>
                  <a:srgbClr val="009688"/>
                </a:solidFill>
              </a:rPr>
              <a:t>16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UI screens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UNIT TESTS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99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all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16459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DB TABLES</a:t>
            </a:r>
          </a:p>
          <a:p>
            <a:pPr algn="ctr"/>
            <a:r>
              <a:rPr sz="3200" b="1">
                <a:solidFill>
                  <a:srgbClr val="1B4F72"/>
                </a:solidFill>
              </a:rPr>
              <a:t>53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4 waves completed in a single intensive work session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Foundation, Admin, Customer, and Sales modules fully implemented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Deal lifecycle state machine — the core business logic — is operational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99 unit tests covering financial calculations, validation, and business rules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Professional dealer-facing React UI with role-based access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Docker-containerized PostgreSQL with 25 Flyway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474720"/>
            <a:ext cx="4572000" cy="2926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OVERALL PROGRESS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50%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Waves 0-3 of 0-7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Progress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8-Wave Migration Plan  |  4 Complete  |  4 Remaining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Wave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Programs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Java Files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Endpoints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Pages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Foundation (Auth + Common + DB)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Admin (Dealer, Model, Price, Tax)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Customer (CRUD, Credit, Leads)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Sales (Deal Lifecycle)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Finance &amp; Floor Plan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NEXT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Vehicle &amp;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24+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PLANNED</a:t>
                      </a:r>
                    </a:p>
                  </a:txBody>
                  <a:tcPr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Registration &amp; Warranty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PLANNED</a:t>
                      </a:r>
                    </a:p>
                  </a:txBody>
                  <a:tcPr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Wave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Batch &amp;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PLANNED</a:t>
                      </a:r>
                    </a:p>
                  </a:txBody>
                  <a:tcPr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4F72"/>
                </a:solidFill>
              </a:rPr>
              <a:t>Cumulative Totals:  229 Java Files  |  53 REST Endpoints  |  16 React Pages  |  99 Unit Tests  |  25 Flyway Migrations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Architecture: Modular Monolith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Single Spring Boot App  |  8 Domain Modules  |  PostgreSQL  |  React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Why Modular Monolith (Not Microservices)?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Deal completion atomically touches 6+ domains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Sale cancellation reverses 6+ tables in one transaction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Single @Transactional vs distributed saga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Modules can be extracted to microservices later if needed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Simpler deployment and operational overhead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5603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Admin  [DONE]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40280"/>
            <a:ext cx="25603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Customer  [DONE]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25603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Sales  [DONE]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29000"/>
            <a:ext cx="256032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Finance  [NEXT]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2560320" cy="5029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Vehicle  [PLANNED]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17720"/>
            <a:ext cx="256032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Floor Plan  [NEXT]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212080"/>
            <a:ext cx="2560320" cy="5029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Registration  [PLANNED]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806440"/>
            <a:ext cx="2560320" cy="5029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Batch  [PLANNED]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Technology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Spring Boot 3.3</a:t>
            </a:r>
          </a:p>
          <a:p>
            <a:pPr algn="ctr"/>
            <a:r>
              <a:rPr sz="1200" b="1">
                <a:solidFill>
                  <a:srgbClr val="666666"/>
                </a:solidFill>
              </a:rPr>
              <a:t>Java 21, Maven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303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React 18 + TypeScript</a:t>
            </a:r>
          </a:p>
          <a:p>
            <a:pPr algn="ctr"/>
            <a:r>
              <a:rPr sz="1200" b="1">
                <a:solidFill>
                  <a:srgbClr val="666666"/>
                </a:solidFill>
              </a:rPr>
              <a:t>Vite, Tailwind 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5303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PostgreSQL 16</a:t>
            </a:r>
          </a:p>
          <a:p>
            <a:pPr algn="ctr"/>
            <a:r>
              <a:rPr sz="1200" b="1">
                <a:solidFill>
                  <a:srgbClr val="666666"/>
                </a:solidFill>
              </a:rPr>
              <a:t>Docker, Flyway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303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Spring Security + JWT</a:t>
            </a:r>
          </a:p>
          <a:p>
            <a:pPr algn="ctr"/>
            <a:r>
              <a:rPr sz="1200" b="1">
                <a:solidFill>
                  <a:srgbClr val="666666"/>
                </a:solidFill>
              </a:rPr>
              <a:t>BCrypt,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5303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OpenAPI / Swagger</a:t>
            </a:r>
          </a:p>
          <a:p>
            <a:pPr algn="ctr"/>
            <a:r>
              <a:rPr sz="1200" b="1">
                <a:solidFill>
                  <a:srgbClr val="666666"/>
                </a:solidFill>
              </a:rPr>
              <a:t>API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0: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Auth + Common Utilities + Database Schema + React Scaffold  |  STATUS: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53 PostgreSQL tables via 25 Flyway migrations (DB2 → PostgreSQL)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Spring Security + JWT authentication with 5-failure account lockout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16 common utility services ported from COBOL modules: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    VIN Validator/Decoder, Loan Calculator, Lease Calculator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    Tax Calculator, Pricing Engine, Floor Plan Interest Calculator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    Stock Position Service, Sequence Generator, Field Formatter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    Date Utils, EDI Parser, Audit Logger (AOP), Error Handler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React scaffold: Login page, Dashboard, role-based sidebar navigation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Docker Compose: PostgreSQL 16, Spring Boot app, React dev server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44 unit tests covering all financial calculators and VIN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DB2 → PostgreSQL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53 Tables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All migrated with Flyway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3017520"/>
            <a:ext cx="4572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COBOL Common Modules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16 Services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All ported to Spring @Component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389120"/>
            <a:ext cx="4572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Tests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44 Passing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Financial precision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1: Admin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7 CRUD Modules  |  30 REST Endpoints  |  7 React Pages  |  STATUS: COMPLETE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Business Rules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Dealer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dealer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List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Phone formatting, region filter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Model Master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model_master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Year 1990-2030, body/engine dropdowns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Price Master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price_master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History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MSRP &gt; Invoice, dealer margin calc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Tax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tax_rate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Calculate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Combined rate &lt;= 15%, test 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Incentive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incentive_program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Act/Deact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Date range, 6 types, units tracking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Config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system_config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List +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Numeric validation for specific keys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Salesperson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salesperson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 + List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Dealer FK, commission plans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All admin endpoints secured with @PreAuthorize("hasRole('ADMIN')")  |  Full CRUD with pagination, filtering, and AOP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2: Customer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Customer CRUD + Credit Pre-Qualification + Lead Management  |  STATUS: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65760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</a:rPr>
              <a:t>Customer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Full CRUD with search (name, phone, license, ID)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Tabbed detail view: Info, History, Credit, Leads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Duplicate detection (lastName + cellPhone)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Round-robin salesperson auto-assignment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65760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</a:rPr>
              <a:t>Credit Pre-Qualification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Income-based credit tier (A-E) with score simulation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DTI ratio calculation with max financing limits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30-day expiry with automatic reuse of valid checks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Visual score gauge with color-coded tier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65760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</a:rPr>
              <a:t>Lead Management (CRM)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Pipeline: New → Contacted → Appointment → Test Drive → Quote → Won/Lost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Overdue follow-up detection and alerts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Filter by dealer, status, salesperson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Contact count tracking and status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3: Sales Module — Deal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The Core Business Logic  |  9 REST Endpoints  |  DealService ~550 Lines  |  STATUS: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WS
Worksheet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
Negotiating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
Pending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
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
In F&amp;I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DL
Delivered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11680" y="2286000"/>
            <a:ext cx="18288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474720" y="2286000"/>
            <a:ext cx="18288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37760" y="2286000"/>
            <a:ext cx="18288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400800" y="2286000"/>
            <a:ext cx="18288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63840" y="2286000"/>
            <a:ext cx="18288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1828800"/>
            <a:ext cx="1280160" cy="5486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
Cancelled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560320"/>
            <a:ext cx="128016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UW
Unwound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Deal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Create Worksheet — auto-pricing from Price Master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Negotiate — counter offers, discounts with live gross recalculation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Validate — 10-point checklist (customer, credit, vehicle, pricing, tax)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Approve — authority thresholds (loser deals need GM, standard need Manager)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Trade-In — ACV by condition (E=100%, G=85%, F=70%, P=55%)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Incentives — stackability rules enforced, unit caps tracked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Complete — delivery checklist, stock position update, commission triggers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Cancel/Unwind — full reversal (vehicle, stock, incentives, floor plan)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20040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DEAL SERVICE</a:t>
            </a:r>
          </a:p>
          <a:p>
            <a:pPr algn="ctr"/>
            <a:r>
              <a:rPr sz="3200" b="1">
                <a:solidFill>
                  <a:srgbClr val="1B4F72"/>
                </a:solidFill>
              </a:rPr>
              <a:t>~550 Lines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Core business logic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29768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DEAL TESTS</a:t>
            </a:r>
          </a:p>
          <a:p>
            <a:pPr algn="ctr"/>
            <a:r>
              <a:rPr sz="3200" b="1">
                <a:solidFill>
                  <a:srgbClr val="4CAF50"/>
                </a:solidFill>
              </a:rPr>
              <a:t>12 Tests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Lifecycle + edge cases covered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39496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 b="1">
                <a:solidFill>
                  <a:srgbClr val="666666"/>
                </a:solidFill>
              </a:rPr>
              <a:t>DEAL DETAIL PAGE</a:t>
            </a:r>
          </a:p>
          <a:p>
            <a:pPr algn="ctr"/>
            <a:r>
              <a:rPr sz="3200" b="1">
                <a:solidFill>
                  <a:srgbClr val="009688"/>
                </a:solidFill>
              </a:rPr>
              <a:t>Primary UI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Automotive deal sheet workspace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Quality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99 Unit Tests  |  All Passing  |  Zero Failures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Suite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Coverage Area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VIN Validator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Check digit algorithm, invalid chars, edge cases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Loan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Standard, 0% APR, amortization schedule,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Lease Calculator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Standard, high residual, money factor to APR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Tax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Multi-jurisdiction, combined rate limits,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Floor Plan Interest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 day-count bases (30/360, ACT/365, ACT/ACT)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Pricing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Gross profit, holdback, margin percentage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Admin Services (7)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CRUD, validation, duplicates, business rules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Customer Services 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Create, credit tiers, DTI, lead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Deal Service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Full lifecycle: create → negotiate → complete → cancel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Application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Spring Boot context loads successfully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All financial calculations use BigDecimal with explicit rounding (HALF_UP)  |  No floating-point precision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Legacy → Modern Technology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IMS DC / COBOL / DB2  →  Spring Boot / React / PostgreSQL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Legacy Component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Modern Equivalent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IMS DC Transactions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REST API Endpoints (53)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OPERATIONAL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MFS Screens (28)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React Pages (16 built, 12 remaining)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2196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COBOL Programs (105+)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Java Services (229 files)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50% COMPLETE</a:t>
                      </a:r>
                    </a:p>
                  </a:txBody>
                  <a:tcPr anchor="ctr">
                    <a:solidFill>
                      <a:srgbClr val="2196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DB2 Tables (46+)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PostgreSQL Tables (53)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IMS Hierarchical DB (5 DBDs)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Relational tables with FK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COBOL Common Modules (16)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Spring @Component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DL/I Calls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JPA Repository Methods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OPERATIONAL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COBOL EVALUATE/PERFORM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Java Switch/Method Calls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OPERATIONAL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3270 Green Screen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Professional React SPA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2196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JCL Batch Jobs (11)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Spring @Scheduled (Wave 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EDI 214/856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Java EDI Parser Service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REXX/CLIST Scripts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REST Admin 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What's Next: Waves 4-7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Finance, Vehicle/Inventory, Registration/Warranty, Batch &amp;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566928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4: Finance &amp; Floor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488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Finance applications (loan/lease submission, approval, funding)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F&amp;I product management (extended warranty, GAP, paint protection)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Floor plan vehicle tracking with daily interest accrual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Lease terms management and residual calculations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12 COBOL programs → REST endpoints + React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66928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5: Vehicle &amp;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Vehicle CRUD with VIN decode and option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Stock position tracking (on-hand, in-transit, allocated, on-hold)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Production orders, shipments, and transit tracking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PDI scheduling and lot location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24+ COBOL programs — largest wave by program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06240"/>
            <a:ext cx="566928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6: Registration &amp; Warranty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091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Vehicle registration submission and status tracking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Warranty registration and claims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Recall campaign tracking with vehicle-level status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Title status pipeline (preparing → issued)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11 COBOL programs → REST endpoints + React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66928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7: Batch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091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Daily/monthly batch processing (EOD, aging, snapshots)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CRM feed, GL interface, DMS data synchronization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EDI 214/856 inbound processing (carrier shipments)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Commission calculation and reporting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  11 COBOL batch programs → Spring @Scheduled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Identified Risks with Active Mitigation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Financial precision loss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 anchor="ctr"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BigDecimal + 99 calc tests + HALF_UP rounding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Deal state machine bugs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 anchor="ctr"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12 lifecycle tests + validation at each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Data migration integrity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 anchor="ctr"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Flyway migrations + automated seed data + checksums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Cross-domain transaction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Modular monolith + single @Transactional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User adoption resistance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Professional UI + role-based access + familiar workflows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2196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IMS-specific semantics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Per-program documentation + business rule extraction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Performance under load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Pagination, indexes, connection pooling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MONITORING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AI-Assisted Modernization: Acceleration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 i="1">
                <a:solidFill>
                  <a:srgbClr val="FFFFFF"/>
                </a:solidFill>
              </a:rPr>
              <a:t>4th Project in Series  |  Cross-Project Learning  |  ~50-60% Efficiency Gain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459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CardDemo (P1)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GenApp (P2)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Portfolio (P3)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AUTOSALES (P4)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COBOL Programs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105+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Legacy SLOC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~25K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~11K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~30K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~84.5K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9 Microservices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 Microservices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 Microservices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Modular Monolith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Modern Java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229 (W0-3)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Unit Tests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~120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153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117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99 (W0-3)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~73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~77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~64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119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Bugs Found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~15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 so far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Key Insight: Largest project (3.4x the SLOC of CardDemo) but lowest bug rate, fastest time-to-value.
Cross-project patterns, fix-forward approach, and parallel agent strategy enabled Waves 0-3 in a single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AUTOSALES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96F3"/>
                </a:solidFill>
              </a:rPr>
              <a:t>Waves 0-3 Complete  |  50% Implementation Done
229 Java Files  |  99 Tests  |  53 Endpoints  |  16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BBBB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