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96F3"/>
                </a:solidFill>
              </a:rPr>
              <a:t>MAINFRAME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AUTOSALES — Automotive Dealer
Sales &amp; Reporting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BBBB"/>
                </a:solidFill>
              </a:rPr>
              <a:t>Executive Summary &amp; Modernization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IMS DC  •  COBOL  •  DB2  •  IMS Hierarchical DB  •  REXX  •  CLIST  •  MFS  •  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Project #4 in AI-Assisted Modernization Series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The largest and most complex mainframe modernization in the series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64592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196F3"/>
                </a:solidFill>
              </a:rPr>
              <a:t>103+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COBOL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64592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44336"/>
                </a:solidFill>
              </a:rPr>
              <a:t>~84,500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Total SLOC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009688"/>
                </a:solidFill>
              </a:rPr>
              <a:t>10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Business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4CAF50"/>
                </a:solidFill>
              </a:rPr>
              <a:t>46+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DB2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9800"/>
                </a:solidFill>
              </a:rPr>
              <a:t>5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IMS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64592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7B1FA2"/>
                </a:solidFill>
              </a:rPr>
              <a:t>7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External Integrations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AUTOSALES is a comprehensive automotive dealer sales platform running on IBM mainframe with IMS DC transaction processing, dual data stores (DB2 + IMS hierarchical), and deep integration with external systems (EDI, CRM, DMS, GL, Data Lake).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114800"/>
            <a:ext cx="265176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</a:rPr>
              <a:t>Aging Platform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IMS DC skills shrinking
Vendor support declining
Hardware costs rising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114800"/>
            <a:ext cx="265176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</a:rPr>
              <a:t>Business Agility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3270 green screens limit UX
Batch-only reporting
No mobile/web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114800"/>
            <a:ext cx="265176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</a:rPr>
              <a:t>Integration Friction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EDI-only interfaces
Fixed-format file exchanges
No real-time APIs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4114800"/>
            <a:ext cx="265176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</a:rPr>
              <a:t>Competitive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63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Modern dealer platforms
Cloud-native competitors
Customer expectations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Current State —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IMS DC / COBOL / DB2 / IMS Hierarchical DB / REXX / CLIST / MFS / EDI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9601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3716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SLOC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Online Programs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DC / COBOL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48,474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BMP / COBOL / DB2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Common Modules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COBOL subroutines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8,904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Copybooks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DCLGEN + 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Screen Definitions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MFS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8,274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Job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Relational 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DB2 z/OS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46+ tables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Hierarchical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(DBD/PSB)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DBDs / 16 PSBs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Automation Scripts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REXX + CLIST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2,601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EDI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ANSI X12 (214/856)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Domain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10 domains covering the complete automotive dealer sales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74320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Customer
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83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7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Add/Edit/Search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Credit Pre-Qual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Lead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Purchase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6459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45920"/>
            <a:ext cx="2743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737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Sales
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783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8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Quote/Worksheet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Negotiation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Trade-in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632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Approval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337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Complete/Cancel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74320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800"/>
                </a:solidFill>
              </a:rPr>
              <a:t>Finance &amp;
Floor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783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12 programs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Loan 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Lease Calculator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F&amp;I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632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Floor Plan 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37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Credit Check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16459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1645920"/>
            <a:ext cx="27432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1737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88"/>
                </a:solidFill>
              </a:rPr>
              <a:t>Vehicle &amp;
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1783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24+ programs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Production→Ship→Receive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Stock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Aging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0632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Transfer/PDI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337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EDI Tracking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20624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206240"/>
            <a:ext cx="27432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297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1FA2"/>
                </a:solidFill>
              </a:rPr>
              <a:t>Registration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5 programs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Generate/Validate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DMV Submission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Status Tracking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420624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6120" y="4206240"/>
            <a:ext cx="274320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4297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4336"/>
                </a:solidFill>
              </a:rPr>
              <a:t>Warranty &amp;
Recall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6 programs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Auto-Registration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Recall Campaigns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Notifications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6235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Claims Report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20624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20624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4297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</a:rPr>
              <a:t>Administration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8 programs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Dealer Master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Tax Rates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Pricing/Models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6235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Incentives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897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Security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89720" y="420624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89720" y="4206240"/>
            <a:ext cx="2743200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4297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Batch
Processing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11 programs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Daily/Weekly/Monthly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CRM/DMS/GL Feeds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Data Lake Extract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81160" y="56235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• Purge/Archive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Modular Monolith — the right pattern for deeply interdependent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657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365760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4336"/>
                </a:solidFill>
              </a:rPr>
              <a:t>Option A: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8 separate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REST APIs between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Independent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PROBLEM: Deal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touches 6+ domains —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distributed transactions (saga)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4336"/>
                </a:solidFill>
              </a:rPr>
              <a:t>Not recommended for this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657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6576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Option B: Modular Monolith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Single app, clean module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Shared DB, module-owned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Internal method calls (no network)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546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Single @Transactional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Can extract services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512MB RAM (vs 2GB+ for 8 services)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</a:rPr>
              <a:t>RECOMMENDED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645920"/>
            <a:ext cx="3657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645920"/>
            <a:ext cx="365760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800"/>
                </a:solidFill>
              </a:rPr>
              <a:t>Option C: Event-Driven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Services via events (Kafka)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Eventually consistent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Loose coupling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546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PROBLEM: Financial calcs 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strong consistency — cannot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tolerate eventual consistency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800"/>
                </a:solidFill>
              </a:rPr>
              <a:t>Over-engineered for this use 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WHY: A single deal operation (sale completion) atomically updates Customer + Vehicle + Stock + Finance + Registration tables. In microservices, this requires complex saga patterns with compensation logic. In a modular monolith, it's a single @Transactional method — atomic, consistent, simple.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Note: Prior 3 projects used microservices (CICS-based, independent domains). This system's deep cross-domain dependencies make modular monolith the pragmatic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Target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IMS DC / COBOL / DB2 → Spring Boot / React / PostgreSQL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9601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65760"/>
                <a:gridCol w="256032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Mainframe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Modern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DC + MFS screens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React 18 + Tailwind CSS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MFS → React pages with forms/tables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transaction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REST API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ADMC → POST /api/admin/config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COBOL programs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Spring Boot 3.3 (Java)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Single modular monolith application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DB2 z/OS (46+ 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PostgreSQL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1:1 table migration, CHAR→VARCHAR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hierarchical (5 DBDs)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PostgreSQL (FK relationships)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Segments → parent-child tables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DL/I calls (GU/GN/ISRT)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JPA (find/save/delete)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PCB status → JPA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PSB/DBD definitions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JPA entities + Flyway DDL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Segment sensitivity → entity fields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COBOL subroutines (COM*)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Spring @Service beans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Financial calcs ported to BigDecimal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JCL batch + checkpoint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Spring @Scheduled + REST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On-demand + scheduled execution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EDI 214/856 (COMEDIL0)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Java EDI parser +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REST endpoint for carrier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REXX/CLIST automation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Admin REST APIs + UI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TSO utilities → web 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Copybooks (DCLGEN)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JPA entity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Field layouts → class attributes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Modular Monolith — Module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Clean boundaries, shared transactions, extractable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097280" cy="3200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common/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Shared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JWT + Spring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96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@Auditable AOP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437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VIN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91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Exception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737360"/>
            <a:ext cx="1097280" cy="32004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Administration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Dealer 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96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Pricing &amp;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437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Tax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91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Incentives &amp;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737360"/>
            <a:ext cx="1097280" cy="3200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customer/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96F3"/>
                </a:solidFill>
              </a:rPr>
              <a:t>Customer Mgmt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CRUD +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96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Credit Pre-Qual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437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Lead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191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Purchase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64592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81160" y="1737360"/>
            <a:ext cx="109728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sales/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</a:rPr>
              <a:t>Sales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Deal 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496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Quote &amp; Negotiate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8437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Trade-in &amp; Incentive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191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Approve &amp; Complete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11480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" y="4206240"/>
            <a:ext cx="1097280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finance/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800"/>
                </a:solidFill>
              </a:rPr>
              <a:t>Finance &amp; FPL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Loan &amp; Lease Calc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965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Floor Plan Mgmt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3126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F&amp;I Products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660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Document Gen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411480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37560" y="4206240"/>
            <a:ext cx="109728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vehicle/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</a:rPr>
              <a:t>Vehicle &amp; Stock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Inventory Lifecycle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965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Stock 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3126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Shipment/Transit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60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PDI &amp; Location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11480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4206240"/>
            <a:ext cx="1097280" cy="3200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registration/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</a:rPr>
              <a:t>Reg &amp; Warranty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DMV Submission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965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Warranty Registration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3126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Recall Campaigns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660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Claims Tracking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89720" y="4114800"/>
            <a:ext cx="2743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281160" y="4206240"/>
            <a:ext cx="1097280" cy="32004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batch/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4336"/>
                </a:solidFill>
              </a:rPr>
              <a:t>Batch &amp; Integration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Daily/Weekly/Monthly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4965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CRM/DMS/GL Feeds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3126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EDI Parser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6601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Data Lake Extract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Plan — 8 Waves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Domain-driven migration sequence, each wave delivers a complete vertical slice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57200" y="1828800"/>
            <a:ext cx="11247120" cy="36576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691640"/>
            <a:ext cx="548640" cy="54864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468880"/>
            <a:ext cx="1371600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Auth + Common + DB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1 programs</a:t>
            </a:r>
          </a:p>
        </p:txBody>
      </p:sp>
      <p:sp>
        <p:nvSpPr>
          <p:cNvPr id="12" name="Oval 11"/>
          <p:cNvSpPr/>
          <p:nvPr/>
        </p:nvSpPr>
        <p:spPr>
          <a:xfrm>
            <a:off x="2057400" y="1691640"/>
            <a:ext cx="548640" cy="548640"/>
          </a:xfrm>
          <a:prstGeom prst="ellipse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2468880"/>
            <a:ext cx="13716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Dealer, Pricing, Tax,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4F72"/>
                </a:solidFill>
              </a:rPr>
              <a:t>7 programs</a:t>
            </a:r>
          </a:p>
        </p:txBody>
      </p:sp>
      <p:sp>
        <p:nvSpPr>
          <p:cNvPr id="19" name="Oval 18"/>
          <p:cNvSpPr/>
          <p:nvPr/>
        </p:nvSpPr>
        <p:spPr>
          <a:xfrm>
            <a:off x="3520440" y="1691640"/>
            <a:ext cx="548640" cy="54864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2468880"/>
            <a:ext cx="137160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</a:rPr>
              <a:t>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CRUD, Credit, Leads,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196F3"/>
                </a:solidFill>
              </a:rPr>
              <a:t>7 programs</a:t>
            </a:r>
          </a:p>
        </p:txBody>
      </p:sp>
      <p:sp>
        <p:nvSpPr>
          <p:cNvPr id="26" name="Oval 25"/>
          <p:cNvSpPr/>
          <p:nvPr/>
        </p:nvSpPr>
        <p:spPr>
          <a:xfrm>
            <a:off x="4983480" y="169164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468880"/>
            <a:ext cx="13716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Deal Lifecycle (Quote → Complete)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CAF50"/>
                </a:solidFill>
              </a:rPr>
              <a:t>8 programs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2468880"/>
            <a:ext cx="137160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Loan/Lease, Floor Plan, F&amp;I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9800"/>
                </a:solidFill>
              </a:rPr>
              <a:t>12 programs</a:t>
            </a:r>
          </a:p>
        </p:txBody>
      </p:sp>
      <p:sp>
        <p:nvSpPr>
          <p:cNvPr id="40" name="Oval 39"/>
          <p:cNvSpPr/>
          <p:nvPr/>
        </p:nvSpPr>
        <p:spPr>
          <a:xfrm>
            <a:off x="7909560" y="169164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89520" y="2468880"/>
            <a:ext cx="13716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88"/>
                </a:solidFill>
              </a:rPr>
              <a:t>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Inventory, Stock, Production, Logistics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688"/>
                </a:solidFill>
              </a:rPr>
              <a:t>24+ programs</a:t>
            </a:r>
          </a:p>
        </p:txBody>
      </p:sp>
      <p:sp>
        <p:nvSpPr>
          <p:cNvPr id="47" name="Oval 46"/>
          <p:cNvSpPr/>
          <p:nvPr/>
        </p:nvSpPr>
        <p:spPr>
          <a:xfrm>
            <a:off x="9372600" y="1691640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2468880"/>
            <a:ext cx="13716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</a:rPr>
              <a:t>Registration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Reg, Warranty, Recall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B1FA2"/>
                </a:solidFill>
              </a:rPr>
              <a:t>11 programs</a:t>
            </a:r>
          </a:p>
        </p:txBody>
      </p:sp>
      <p:sp>
        <p:nvSpPr>
          <p:cNvPr id="54" name="Oval 53"/>
          <p:cNvSpPr/>
          <p:nvPr/>
        </p:nvSpPr>
        <p:spPr>
          <a:xfrm>
            <a:off x="10835640" y="1691640"/>
            <a:ext cx="548640" cy="54864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15600" y="2468880"/>
            <a:ext cx="1371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515600" y="2468880"/>
            <a:ext cx="137160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704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Wave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4336"/>
                </a:solidFill>
              </a:rPr>
              <a:t>Batch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32918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Scheduled Jobs, Integrations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4336"/>
                </a:solidFill>
              </a:rPr>
              <a:t>11 programs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Each wave delivers: Database schema + Backend module + REST APIs + React pages +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Database Migration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Dual data stores (IMS hierarchical + DB2 relational) → Single PostgreSQL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</a:rPr>
              <a:t>IMS Hierarchical → PostgreSQL Relational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DBDAUTO1: VEHICLE (root) → vehicle + vehicle_option + vehicle_status_hist + lot_location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DBDAUTO2: CUSTOMER (root) → customer + customer_lead + sales_deal + deal_line_item + trade_in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DBDAUTO3: FINANCEAPP (root) → finance_app + finance_product + lease_terms + floor_plan_*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7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DBDAUTO4: PRICEMASTER (root) → price_master + tax_rate + incentive_program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DBDAUTO5: REPORTING → monthly_snapshot + stock_snapshot + audit_log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</a:rPr>
              <a:t>DB2 → PostgreSQL (Direct Migration)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38912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DB2 Type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Decision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CHAR(n)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VARCHAR(n)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Avoids Hibernate CHAR padding bug (known from 3 prior projects)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DECIMAL(p,s)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NUMERIC(p,s)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Financial precision preserved — BigDecimal in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Direct mapping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INTEGER/BIGINT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Direct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0" y="1645920"/>
            <a:ext cx="30175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009688"/>
                </a:solidFill>
              </a:rPr>
              <a:t>~46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Total PostgreSQL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Enhancements Beyond Mainframe Parity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12 features that demonstrate modernization adds tangible business value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691640"/>
            <a:ext cx="320040" cy="3200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Sales Pipeline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Kanban board: deals by stage with visual tracking</a:t>
            </a:r>
          </a:p>
        </p:txBody>
      </p:sp>
      <p:sp>
        <p:nvSpPr>
          <p:cNvPr id="7" name="Oval 6"/>
          <p:cNvSpPr/>
          <p:nvPr/>
        </p:nvSpPr>
        <p:spPr>
          <a:xfrm>
            <a:off x="4160520" y="1691640"/>
            <a:ext cx="320040" cy="3200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Inventory Health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Aging heat map, stock turn, days-supply by model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1691640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Finance Calculator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Side-by-side loan vs lease with what-if scenarios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880360"/>
            <a:ext cx="320040" cy="32004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Floor Plan Exposure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Total exposure by lender, curtailment alerts</a:t>
            </a:r>
          </a:p>
        </p:txBody>
      </p:sp>
      <p:sp>
        <p:nvSpPr>
          <p:cNvPr id="16" name="Oval 15"/>
          <p:cNvSpPr/>
          <p:nvPr/>
        </p:nvSpPr>
        <p:spPr>
          <a:xfrm>
            <a:off x="4160520" y="2880360"/>
            <a:ext cx="320040" cy="320040"/>
          </a:xfrm>
          <a:prstGeom prst="ellipse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Audit Trail (AOP)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@Auditable on all operations, searchable log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2880360"/>
            <a:ext cx="320040" cy="3200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Excel/CSV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Every list view exportable to XLSX/CSV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" y="4069080"/>
            <a:ext cx="320040" cy="3200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Real-time Deal Profitability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Live gross calculation as terms change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069080"/>
            <a:ext cx="320040" cy="3200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VIN Instant Decode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Type VIN → immediate decode results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0" y="4069080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On-demand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Run any batch report instantly</a:t>
            </a:r>
          </a:p>
        </p:txBody>
      </p:sp>
      <p:sp>
        <p:nvSpPr>
          <p:cNvPr id="31" name="Oval 30"/>
          <p:cNvSpPr/>
          <p:nvPr/>
        </p:nvSpPr>
        <p:spPr>
          <a:xfrm>
            <a:off x="274320" y="5257800"/>
            <a:ext cx="320040" cy="32004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System Health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Batch job status, integration health</a:t>
            </a:r>
          </a:p>
        </p:txBody>
      </p:sp>
      <p:sp>
        <p:nvSpPr>
          <p:cNvPr id="34" name="Oval 33"/>
          <p:cNvSpPr/>
          <p:nvPr/>
        </p:nvSpPr>
        <p:spPr>
          <a:xfrm>
            <a:off x="4160520" y="5257800"/>
            <a:ext cx="320040" cy="320040"/>
          </a:xfrm>
          <a:prstGeom prst="ellipse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User Management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RBAC administration with role assignment</a:t>
            </a:r>
          </a:p>
        </p:txBody>
      </p:sp>
      <p:sp>
        <p:nvSpPr>
          <p:cNvPr id="37" name="Oval 36"/>
          <p:cNvSpPr/>
          <p:nvPr/>
        </p:nvSpPr>
        <p:spPr>
          <a:xfrm>
            <a:off x="8046720" y="5257800"/>
            <a:ext cx="320040" cy="3200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Paginated + Searchable Lists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Server-side pagination, filter, sort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 Register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Key risks identified from codebase analysis and 3 prior modernization projects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914400"/>
                <a:gridCol w="109728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hierarchical data flattening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Map every DBD segment; validate with test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Financial calc precision divergence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Port exact COBOL algorithms; BigDecimal; 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Deal state machine edge cases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State transition matrix; test every path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EDI parsing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Port COMEDIL0 logic; test with sample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Floor plan day-count variance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Support all 3 bases (360/365/ACT); validate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Multi-jurisdiction tax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Port COMTAXL0; test representative combos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8GB RAM constraint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Monolith advantage: 1 JVM (~512MB)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Hibernate CHAR padding (known)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VARCHAR from 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~290 automated tests — highest count in the modernization series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887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4CAF50"/>
                </a:solidFill>
              </a:rPr>
              <a:t>~130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Unit Tests (Backend)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Service layer, calculators, VIN validation  |  JUnit 5 + Mockito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1887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196F3"/>
                </a:solidFill>
              </a:rPr>
              <a:t>~70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</a:rPr>
              <a:t>Integration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Controller endpoints + database  |  @SpringBootTest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1887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9800"/>
                </a:solidFill>
              </a:rPr>
              <a:t>~60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Frontend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React components + pages  |  Vitest + Testing 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59"/>
            <a:ext cx="11887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7B1FA2"/>
                </a:solidFill>
              </a:rPr>
              <a:t>~30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</a:rPr>
              <a:t>Financial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03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Loan/lease/interest/tax calculations  |  Parameterized JUnit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45920"/>
            <a:ext cx="4389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438912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783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4336"/>
                </a:solidFill>
              </a:rPr>
              <a:t>Bug Prevention (from 3 prior projects)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UUID suffix for test data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VARCHAR for all columns (no CHAR)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834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scanBasePackages includes common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15467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isString() for mutable assertions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474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BigDecimal for all financial values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754880"/>
            <a:ext cx="4389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4CAF50"/>
                </a:solidFill>
              </a:rPr>
              <a:t>~290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Target Total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AI-Assisted Modernization — Cross-Project Acceleration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Project #4 benefits from accumulated learnings across 3 completed modernizations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645920"/>
                <a:gridCol w="822960"/>
                <a:gridCol w="822960"/>
                <a:gridCol w="640080"/>
                <a:gridCol w="6400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Programs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SLOC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Bugs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#1 CardDemo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CICS/VSAM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 microservices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~25K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#2 GenApp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CICS/VSAM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#3 Portfolio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CICS/DB2/VSAM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microservices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~30K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~4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#4 AUTOSALES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IMS DC/DB2/IMS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Modular monolith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~84.5K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~5-7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</a:rPr>
              <a:t>Where Cross-Project Memory Saves Effort (~50-60% reduction)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265176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</a:rPr>
              <a:t>~90%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Architecture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Proven stack, adapt for IMS specifics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389120"/>
            <a:ext cx="265176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</a:rPr>
              <a:t>~80%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Wave Sequencing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Auth → Entities → Transactions → Reports → Batch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389120"/>
            <a:ext cx="265176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</a:rPr>
              <a:t>~60%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Bug Prevention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Fix-forward applied from Day 1 (VARCHAR, UUID, scanBase)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389120"/>
            <a:ext cx="265176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</a:rPr>
              <a:t>~70%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Enhancement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Dashboard + audit + export chosen instantly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800"/>
                </a:solidFill>
              </a:rPr>
              <a:t>New: IMS DC patterns (MFS, DL/I, PSB/DBD, EDI) require full analysis — first non-CICS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Deliverables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1600">
                <a:solidFill>
                  <a:srgbClr val="FFFFFF"/>
                </a:solidFill>
              </a:rPr>
              <a:t>What you get: working application + comprehensive documentation + presentation assets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657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36576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Working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Spring Boot modular monolith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React SPA with 10+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PostgreSQL with 46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JWT authentication +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~290 automated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12 enhancements beyond parity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3657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645920"/>
            <a:ext cx="365760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96F3"/>
                </a:solidFill>
              </a:rPr>
              <a:t>Legacy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Codebase overview &amp;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103+ program-level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10 domain data flow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546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Business rules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Cross-program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Dependency mapping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645920"/>
            <a:ext cx="3657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645920"/>
            <a:ext cx="365760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800"/>
                </a:solidFill>
              </a:rPr>
              <a:t>Modern App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API reference (all endpoints)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Architecture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Developer setup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546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Database schema + mappings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COBOL→Modern 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• Test inventory &amp; strategy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669280"/>
            <a:ext cx="2743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196F3"/>
                </a:solidFill>
              </a:rPr>
              <a:t>130+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Total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5669280"/>
            <a:ext cx="2743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4CAF50"/>
                </a:solidFill>
              </a:rPr>
              <a:t>80+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REST APIs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669280"/>
            <a:ext cx="2743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9800"/>
                </a:solidFill>
              </a:rPr>
              <a:t>20+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React Pages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5669280"/>
            <a:ext cx="2743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7B1FA2"/>
                </a:solidFill>
              </a:rPr>
              <a:t>120+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82880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96F3"/>
                </a:solidFill>
              </a:rPr>
              <a:t>READY TO MODERNIZE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103+ COBOL Programs.
10 Business Domains.
One Modular Monolith.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</a:rPr>
              <a:t>→  Proven approach — 4th modernization, 220+ COBOL programs modernized across 4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</a:rPr>
              <a:t>→  Right architecture — Modular monolith for deeply interdependent automotive sales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</a:rPr>
              <a:t>→  Accelerated delivery — 50-60% faster from cross-project learnings and AI-assisted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</a:rPr>
              <a:t>→  Beyond parity — 12 enhancements that unlock business value inaccessible on the mainframe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Project #4  •  Automotive Industry  •  AI-Assisted Modernization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